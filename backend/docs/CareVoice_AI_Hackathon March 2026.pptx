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731520" cy="731520"/>
          </a:xfrm>
          <a:prstGeom prst="ellipse">
            <a:avLst/>
          </a:prstGeom>
          <a:solidFill>
            <a:srgbClr val="065A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801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9601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CareVoice AI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64592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Voice + RAG for Senior &amp; Patient Care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645920" y="237744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164592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Hackathon March 2026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45920" y="3017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Azure AI Governed RAG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64592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Arulselvi Amirrthalingam &amp; Selvamani Ramasamy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wellness companion for seniors living alone  •  Grounded in data  •  Safe by default  •  Fully observable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716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2618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14M Seniors Live Alone — No Daily Check-ins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17320" y="15544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Seniors living alone go days without a meaningful conversation. Declining nutrition, isolation, and emotional distress go undetected until a crisis. Families and caregivers have no scalable way to monitor wellness daily.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0080" y="21031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860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1762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 in Healthcare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17320" y="24688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LLMs generate plausible but ungrounded responses. For a senior living alone, a hallucinated health recommendation can cause real harm with no one there to catch it.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30175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0906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Guardrails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17320" y="33832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voice systems have zero content safety enforcement. Medical advice slips through. PHI gets exposed. For vulnerable populations like seniors, this is unacceptable.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9319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0080" y="39319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148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00507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 Conversations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417320" y="429768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goes wrong in a patient or senior care call, there's no way to trace what happened, why the AI said what it said, or whether safety checks ran.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CareVoice AI: 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governed, voice-enabled RAG system that conducts daily wellness check-in calls for seniors living alone and patients in care — with grounded responses, safety enforcement, and full observability.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1325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9738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+ ConversationRelay for real-time streaming calls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645920"/>
            <a:ext cx="2560320" cy="1325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66160" y="1783080"/>
            <a:ext cx="457200" cy="457200"/>
          </a:xfrm>
          <a:prstGeom prst="ellipse">
            <a:avLst/>
          </a:prstGeom>
          <a:solidFill>
            <a:srgbClr val="065A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89738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RAG-Grounded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hybrid retrieval ensures every response is data-backed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645920"/>
            <a:ext cx="2560320" cy="1325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17830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89738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Enforced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55080" y="22860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 validates every single LLM output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200400"/>
            <a:ext cx="2560320" cy="1325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065A6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4518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Observable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+ App Insights traces every span end-to-end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429000" y="3200400"/>
            <a:ext cx="2560320" cy="1325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566160" y="33375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460" y="345186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Evaluated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56616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Evaluation scores groundedness, relevance, coherence, fluency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3200400"/>
            <a:ext cx="2560320" cy="1325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55080" y="3337560"/>
            <a:ext cx="457200" cy="457200"/>
          </a:xfrm>
          <a:prstGeom prst="ellipse">
            <a:avLst/>
          </a:prstGeom>
          <a:solidFill>
            <a:srgbClr val="065A6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345186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337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Context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55080" y="38404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stores patient profiles and session history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097280"/>
            <a:ext cx="1234440" cy="82296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972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(Twilio)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20240" y="1097280"/>
            <a:ext cx="1234440" cy="822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20240" y="10972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109728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1097280"/>
            <a:ext cx="123444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29000" y="10972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 AI Search)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109728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37760" y="1097280"/>
            <a:ext cx="1234440" cy="822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0972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(GPT-4o-mini)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109728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46520" y="1097280"/>
            <a:ext cx="1234440" cy="82296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0972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(Azure)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0" y="1097280"/>
            <a:ext cx="274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55280" y="1097280"/>
            <a:ext cx="1234440" cy="8229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955280" y="109728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Response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(Twilio)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2606040"/>
            <a:ext cx="1508760" cy="73152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11480" y="2606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2606040"/>
            <a:ext cx="150876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103120" y="2606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94760" y="2606040"/>
            <a:ext cx="1508760" cy="73152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94760" y="2606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Insights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0" y="2606040"/>
            <a:ext cx="1508760" cy="73152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86400" y="2606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78040" y="2606040"/>
            <a:ext cx="1508760" cy="7315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178040" y="2606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Twilio call  →  2. FastAPI WebSocket  →  3. Speech-to-text  →  4. End-of-call detection  →  5. Embedding (Azure OpenAI)  →  6. Hybrid retrieval (AI Search)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Context → LLM (GPT-4o-mini)  →  8. Content Safety check  →  9. Twilio voice response  →  10. OpenTelemetry logging  →  11. Post-call LLM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Services — Breadth &amp; Depth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Azure services working together in a single governed pipeline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5331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2984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Service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97280" y="1527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LLM + Embeddings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97280" y="1719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for conversational responses + embedding generation for RAG retrieval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771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212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97280" y="2441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7280" y="2633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(keyword + semantic) over patient wellness knowledge base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8211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097280" y="3355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97280" y="3547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content moderation on every LLM output — blocks harmful/ungrounded content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096512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40416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1097280" y="42702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Store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097280" y="4462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profiles, session history, wellness scores — globally distributed NoSQL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353312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57800" y="12984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Application Insights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257800" y="15270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5257800" y="1719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OpenTelemetry traces and metrics — full call lifecycle visibility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267712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257800" y="22128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Evaluation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5257800" y="24414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5257800" y="26334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quality scoring: groundedness, relevance, coherence, fluency</a:t>
            </a:r>
            <a:endParaRPr lang="en-US" sz="10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182112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57800" y="31272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5257800" y="3355848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/ Hosting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5257800" y="3547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FastAPI backend with auto-scaling for production-grade deployment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 — 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065A6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4672" y="1417320"/>
            <a:ext cx="36576" cy="1371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005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Utterance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2435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captured via Twilio ConversationRelay WebSocket stream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" y="1965960"/>
            <a:ext cx="36576" cy="1371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17922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creates vector embedding of the patient query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065A6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" y="2514600"/>
            <a:ext cx="36576" cy="1371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21031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3408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runs keyword + semantic search over wellness knowledge base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4672" y="3063240"/>
            <a:ext cx="36576" cy="1371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Assembly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28895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retrieved documents assembled with patient context from Cosmos DB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065A60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" y="3611880"/>
            <a:ext cx="36576" cy="1371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26" name="Text 24"/>
          <p:cNvSpPr/>
          <p:nvPr/>
        </p:nvSpPr>
        <p:spPr>
          <a:xfrm>
            <a:off x="1188720" y="3200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34381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generates grounded response using assembled context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7947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4672" y="4160520"/>
            <a:ext cx="36576" cy="13716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37490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Validation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88720" y="39867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 scans output — blocks harmful, ungrounded, or PHI-containing responses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" y="4343400"/>
            <a:ext cx="365760" cy="365760"/>
          </a:xfrm>
          <a:prstGeom prst="ellipse">
            <a:avLst/>
          </a:prstGeom>
          <a:solidFill>
            <a:srgbClr val="065A6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343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4297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Delivery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188720" y="45354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response streamed back to patient via Twilio voice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03520" y="1005840"/>
            <a:ext cx="3383280" cy="37490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0" y="1143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Governance Features</a:t>
            </a:r>
            <a:endParaRPr lang="en-US" sz="14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00200"/>
            <a:ext cx="201168" cy="201168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5806440" y="15727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(keyword + semantic vectors)</a:t>
            </a:r>
            <a:endParaRPr lang="en-US" sz="1000" dirty="0"/>
          </a:p>
        </p:txBody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2011680"/>
            <a:ext cx="201168" cy="20116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5806440" y="19842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Patient-specific context injection from Cosmos DB</a:t>
            </a:r>
            <a:endParaRPr lang="en-US" sz="10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23160"/>
            <a:ext cx="201168" cy="20116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806440" y="2395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advice restriction guardrail</a:t>
            </a:r>
            <a:endParaRPr lang="en-US" sz="100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834640"/>
            <a:ext cx="201168" cy="20116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806440" y="2807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awareness — flags protected health info</a:t>
            </a:r>
            <a:endParaRPr lang="en-US" sz="1000" dirty="0"/>
          </a:p>
        </p:txBody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246120"/>
            <a:ext cx="201168" cy="201168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5806440" y="32186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check on every response</a:t>
            </a:r>
            <a:endParaRPr lang="en-US" sz="10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3657600"/>
            <a:ext cx="201168" cy="201168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5806440" y="3630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 for traceability</a:t>
            </a:r>
            <a:endParaRPr lang="en-US" sz="10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4069080"/>
            <a:ext cx="201168" cy="201168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5806440" y="40416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evaluation: groundedness, relevance, coherence, fluency scores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Responsible AI — Safety at Every Layer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judging criteria — here's how CareVoice AI delivers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840480" cy="10515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716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474470"/>
            <a:ext cx="205740" cy="2057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 on Every Turn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737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LLM response is scanned before it reaches the patient. Harmful, ungrounded, or inappropriate content is blocked in real time.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00600" y="1234440"/>
            <a:ext cx="3840480" cy="105156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1371600"/>
            <a:ext cx="411480" cy="411480"/>
          </a:xfrm>
          <a:prstGeom prst="ellipse">
            <a:avLst/>
          </a:prstGeom>
          <a:solidFill>
            <a:srgbClr val="065A6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1474470"/>
            <a:ext cx="205740" cy="2057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1325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Advice Restriction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937760" y="1737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guardrails explicitly prevent diagnosis, prescriptions, or treatment recommendations. CareVoice checks wellness — it doesn't practice medicine.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2468880"/>
            <a:ext cx="3840480" cy="10515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260604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2708910"/>
            <a:ext cx="205740" cy="2057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Awareness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77240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Health Information is flagged. The system is designed to avoid exposing or generating PHI in uncontrolled contexts.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800600" y="2468880"/>
            <a:ext cx="3840480" cy="105156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2606040"/>
            <a:ext cx="411480" cy="411480"/>
          </a:xfrm>
          <a:prstGeom prst="ellipse">
            <a:avLst/>
          </a:prstGeom>
          <a:solidFill>
            <a:srgbClr val="065A6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630" y="2708910"/>
            <a:ext cx="205740" cy="2057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86400" y="2560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Enforcement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937760" y="29718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ensures responses are backed by retrieved data, not hallucinated. Azure AI Evaluation scores groundedness post-call.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3703320"/>
            <a:ext cx="3840480" cy="10515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77240" y="384048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" y="3943350"/>
            <a:ext cx="205740" cy="2057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2588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7724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traces capture every step: call start, utterance handling, safety check, Cosmos lookup, evaluation run. Nothing is a black box.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800600" y="3703320"/>
            <a:ext cx="3840480" cy="105156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937760" y="3840480"/>
            <a:ext cx="411480" cy="411480"/>
          </a:xfrm>
          <a:prstGeom prst="ellipse">
            <a:avLst/>
          </a:prstGeom>
          <a:solidFill>
            <a:srgbClr val="065A6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630" y="3943350"/>
            <a:ext cx="205740" cy="2057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8640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Quality Evaluation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937760" y="42062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Evaluation computes groundedness, relevance, coherence, and fluency scores. Enables continuous quality monitoring.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— Everything is Traceable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OpenTelemetry Spans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472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carevoice.start_call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initiation, patient lookup, session creation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10312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1031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1579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carevoice.handle_utterance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utterance processing: embed → retrieve → generate → safety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7889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8437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content_safety_check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3063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 scan with pass/fail result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7472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4747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5295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cosmos_lookup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749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 and history retrieval from Cosmos DB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384048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1605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153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evaluation_run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Post-call Azure AI Evaluation: groundedness, relevance, coherence, fluency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46320" y="141732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417320"/>
            <a:ext cx="54864" cy="73152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27" name="Text 25"/>
          <p:cNvSpPr/>
          <p:nvPr/>
        </p:nvSpPr>
        <p:spPr>
          <a:xfrm>
            <a:off x="5074920" y="14904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SDK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 code with custom spans and attributes. OTLP exporter sends data to collectors.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228600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286000"/>
            <a:ext cx="54864" cy="73152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31" name="Text 29"/>
          <p:cNvSpPr/>
          <p:nvPr/>
        </p:nvSpPr>
        <p:spPr>
          <a:xfrm>
            <a:off x="5074920" y="235915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Application Insights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2606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traces and metrics in Azure Portal. Query with KQL, build dashboards, set alerts.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15468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46320" y="3154680"/>
            <a:ext cx="54864" cy="73152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32278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Aspire Dashboard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74920" y="3474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observability — see traces in real time during development and testing.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4023360"/>
            <a:ext cx="38404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4023360"/>
            <a:ext cx="54864" cy="73152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39" name="Text 37"/>
          <p:cNvSpPr/>
          <p:nvPr/>
        </p:nvSpPr>
        <p:spPr>
          <a:xfrm>
            <a:off x="5074920" y="409651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74920" y="4343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frontend with Recharts showing wellness scores, RAG metrics, pipeline status, and traces.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Agent Framework — Pipeline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MAF orchestration — currently implemented as deterministic procedural pipeline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91440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intent: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check,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emergency, general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20240" y="13716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1371600"/>
            <a:ext cx="1463040" cy="9144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hybrid 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Azure AI Search,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context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0" y="13716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931920" y="1371600"/>
            <a:ext cx="1463040" cy="91440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3192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generates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response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RAG context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94960" y="13716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669280" y="1371600"/>
            <a:ext cx="1463040" cy="9144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output,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if needed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13716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406640" y="1371600"/>
            <a:ext cx="1463040" cy="91440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13716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06640" y="23774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escalation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triggers, flags for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review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365760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38328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3474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7490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pipeline in FastAPI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runs sequentially in workflows/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control — explicit logic, no magic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and fully testable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46320" y="3383280"/>
            <a:ext cx="384048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38328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34747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Full MAF Orchestration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37490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routing with dynamic handoff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for personalization across calls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escalation agent for critical flags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Microsoft Agent Framework SDK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— Monitoring &amp; Evaluation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Monitoring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patient nutrition, physical, emotional, and social wellness scores. Radar chart visualization with live call transcript display.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1005840"/>
            <a:ext cx="3840480" cy="54864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Governance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groundedness, relevance, coherence, and fluency scores from Azure AI Evaluation. Citation tracking and safety check results per conversation.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83464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the Triage → Retrieval → Response → Safety → Alert flow. Shows stage-by-stage status and processing outcomes.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83464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834640"/>
            <a:ext cx="3840480" cy="54864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3832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trace viewer showing spans, durations, and attributes. Performance metrics and safety evaluation status for each call.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 &amp; Performance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(25%)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2984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RAG — most RAG systems are text-only; CareVoice operates in real-time voice, perfect for seniors who can't use apps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16642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use case — daily wellness companion for seniors living alone + patient care follow-up for healthcare providers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57400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0299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pipeline — every response is safety-checked before reaching the senior or patient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423160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3957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call termination — detects "bye", "thank you", fuzzy speech like "buh"</a:t>
            </a:r>
            <a:endParaRPr lang="en-US" sz="1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78892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276148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evaluation loop — LLM outputs are scored post-call, enabling continuous quality improvement</a:t>
            </a:r>
            <a:endParaRPr lang="en-US" sz="1100" dirty="0"/>
          </a:p>
        </p:txBody>
      </p:sp>
      <p:sp>
        <p:nvSpPr>
          <p:cNvPr id="14" name="Text 7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(25%)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640080" y="3703320"/>
            <a:ext cx="192024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9"/>
          <p:cNvSpPr/>
          <p:nvPr/>
        </p:nvSpPr>
        <p:spPr>
          <a:xfrm>
            <a:off x="64008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73152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streaming via Twilio ConversationRelay WebSocket — no batch delays</a:t>
            </a:r>
            <a:endParaRPr lang="en-US" sz="900" dirty="0"/>
          </a:p>
        </p:txBody>
      </p:sp>
      <p:sp>
        <p:nvSpPr>
          <p:cNvPr id="18" name="Shape 11"/>
          <p:cNvSpPr/>
          <p:nvPr/>
        </p:nvSpPr>
        <p:spPr>
          <a:xfrm>
            <a:off x="2743200" y="3703320"/>
            <a:ext cx="192024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274320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283464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with async/httpx — non-blocking I/O for concurrent call handling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4846320" y="3703320"/>
            <a:ext cx="192024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484632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93776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keyword + semantic retrieval for high-precision, high-recall RAG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6949440" y="3703320"/>
            <a:ext cx="1920240" cy="10972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18"/>
          <p:cNvSpPr/>
          <p:nvPr/>
        </p:nvSpPr>
        <p:spPr>
          <a:xfrm>
            <a:off x="6949440" y="3794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040880" y="41148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globally distributed + Azure App Service auto-scaling for production load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CareVoice AI Scores on Every Criteria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6916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25%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481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voice streaming (no batch latency)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01368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1773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FastAPI with httpx for concurrent calls</a:t>
            </a:r>
            <a:endParaRPr lang="en-US" sz="1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93976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2066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for precision + recall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86584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+ App Service auto-scaling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4754880" y="1005840"/>
            <a:ext cx="4023360" cy="169164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— 25%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508760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12080" y="1481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RAG (not text-only)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1801368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12080" y="17739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pipeline with safety on every turn</a:t>
            </a:r>
            <a:endParaRPr lang="en-US" sz="10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093976"/>
            <a:ext cx="164592" cy="164592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2066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fuzzy call termination</a:t>
            </a:r>
            <a:endParaRPr lang="en-US" sz="10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386584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212080" y="23591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post-call LLM evaluation loop</a:t>
            </a:r>
            <a:endParaRPr lang="en-US" sz="1000" dirty="0"/>
          </a:p>
        </p:txBody>
      </p:sp>
      <p:sp>
        <p:nvSpPr>
          <p:cNvPr id="24" name="Shape 14"/>
          <p:cNvSpPr/>
          <p:nvPr/>
        </p:nvSpPr>
        <p:spPr>
          <a:xfrm>
            <a:off x="457200" y="2926080"/>
            <a:ext cx="4023360" cy="16916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25" name="Text 15"/>
          <p:cNvSpPr/>
          <p:nvPr/>
        </p:nvSpPr>
        <p:spPr>
          <a:xfrm>
            <a:off x="64008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Services Breadth — 25%</a:t>
            </a:r>
            <a:endParaRPr lang="en-US" sz="15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3429000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1440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Azure services: OpenAI, AI Search, Content Safety, Cosmos DB, App Insights, AI Eval, App Service</a:t>
            </a:r>
            <a:endParaRPr lang="en-US" sz="10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" y="3721608"/>
            <a:ext cx="164592" cy="16459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914400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service plays a distinct, critical role</a:t>
            </a:r>
            <a:endParaRPr lang="en-US" sz="100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4014216"/>
            <a:ext cx="164592" cy="16459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914400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Deeply integrated — not bolted on</a:t>
            </a:r>
            <a:endParaRPr lang="en-US" sz="1000" dirty="0"/>
          </a:p>
        </p:txBody>
      </p:sp>
      <p:sp>
        <p:nvSpPr>
          <p:cNvPr id="32" name="Shape 19"/>
          <p:cNvSpPr/>
          <p:nvPr/>
        </p:nvSpPr>
        <p:spPr>
          <a:xfrm>
            <a:off x="4754880" y="2926080"/>
            <a:ext cx="4023360" cy="1691640"/>
          </a:xfrm>
          <a:prstGeom prst="rect">
            <a:avLst/>
          </a:prstGeom>
          <a:solidFill>
            <a:srgbClr val="065A60"/>
          </a:solidFill>
          <a:ln/>
          <a:effectLst>
            <a:outerShdw sx="100000" sy="100000" kx="0" ky="0" algn="bl" rotWithShape="0" blurRad="50800" dist="12700" dir="8100000">
              <a:srgbClr val="000000">
                <a:alpha val="15000"/>
              </a:srgbClr>
            </a:outerShdw>
          </a:effectLst>
        </p:spPr>
      </p:sp>
      <p:sp>
        <p:nvSpPr>
          <p:cNvPr id="33" name="Text 20"/>
          <p:cNvSpPr/>
          <p:nvPr/>
        </p:nvSpPr>
        <p:spPr>
          <a:xfrm>
            <a:off x="493776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 — 25%</a:t>
            </a:r>
            <a:endParaRPr lang="en-US" sz="15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3429000"/>
            <a:ext cx="164592" cy="164592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5212080" y="34015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Safety on every LLM output</a:t>
            </a:r>
            <a:endParaRPr lang="en-US" sz="1000" dirty="0"/>
          </a:p>
        </p:txBody>
      </p:sp>
      <p:pic>
        <p:nvPicPr>
          <p:cNvPr id="36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0" y="3721608"/>
            <a:ext cx="164592" cy="164592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5212080" y="3694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advice restriction + PHI awareness</a:t>
            </a:r>
            <a:endParaRPr lang="en-US" sz="100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37760" y="4014216"/>
            <a:ext cx="164592" cy="164592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5212080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enforcement via RAG</a:t>
            </a:r>
            <a:endParaRPr lang="en-US" sz="1000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37760" y="4306824"/>
            <a:ext cx="164592" cy="164592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5212080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 with OpenTelemetry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See in Azure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these in your video walkthrough to demonstrate the live 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28016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→ Transaction Search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OpenTelemetry traces arriving in real time. Filter by "carevoice.start_call" or "content_safety_check". Click into a trace to show the full span waterfall — this proves observability is live, not mocked.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65960"/>
            <a:ext cx="54864" cy="59436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1168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 → Live Metrics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240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on the phone call, show the Live Metrics stream. The audience sees requests and traces flowing in real time as you speak to CareVoice AI.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69748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69748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74320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→ Index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97180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search index with the wellness knowledge base documents. Run a sample query to demonstrate hybrid retrieval returning ranked results.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429000"/>
            <a:ext cx="54864" cy="59436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7472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Content Safety →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7033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Content Safety resource and its monitoring. Demonstrate that it's integrated by pointing to the API calls in App Insights traces.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160520"/>
            <a:ext cx="54864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20624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 → Data Explorer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44348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patient records and session data. Query a recent call session to show stored context — proves the data pipeline is real.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463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68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RAG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(GPT-4o-mini) • Azure OpenAI Embeddings • Azure AI Search (hybrid)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1463040" cy="36576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325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 • Medical advice restriction • PHI awareness guardrails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1463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783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 (patient profiles + sessions) • Azure AI Search (knowledge base)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240280"/>
            <a:ext cx="1463040" cy="36576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240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Voice API • Twilio ConversationRelay (WebSocket streaming)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1463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FastAPI (async) • httpx • WebSocket handlers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54680"/>
            <a:ext cx="1463040" cy="36576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(OTLP) • Azure Application Insights • Aspire Dashboard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11880"/>
            <a:ext cx="1463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611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Evaluation SDK — groundedness, relevance, coherence, fluency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069080"/>
            <a:ext cx="1463040" cy="365760"/>
          </a:xfrm>
          <a:prstGeom prst="rect">
            <a:avLst/>
          </a:prstGeom>
          <a:solidFill>
            <a:srgbClr val="065A6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69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8600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• Vite • TypeScript • Recharts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526280"/>
            <a:ext cx="146304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526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45262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 Service • Docker • docker-compose.yml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4572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6220" y="617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 Yourself — Live Demo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1371600" y="2011680"/>
            <a:ext cx="6400800" cy="82296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71600" y="20116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1-866-505-5395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now — the line is live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97280" y="3383280"/>
            <a:ext cx="6949440" cy="1508760"/>
          </a:xfrm>
          <a:prstGeom prst="rect">
            <a:avLst/>
          </a:prstGeom>
          <a:solidFill>
            <a:srgbClr val="0F1B2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097280" y="3383280"/>
            <a:ext cx="54864" cy="15087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1371600" y="34564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experience CareVoice AI: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374904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the number above from any phone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prompted, say "Margaret" — this loads a full patient profile with wellness history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natural conversation — ask about nutrition, how you're feeling, or daily activity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"bye" or "thank you" to end — intelligent call termination handles the rest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" name="Shape 2"/>
          <p:cNvSpPr/>
          <p:nvPr/>
        </p:nvSpPr>
        <p:spPr>
          <a:xfrm>
            <a:off x="3886200" y="1371600"/>
            <a:ext cx="640080" cy="640080"/>
          </a:xfrm>
          <a:prstGeom prst="ellipse">
            <a:avLst/>
          </a:prstGeom>
          <a:solidFill>
            <a:srgbClr val="065A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6220" y="15316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CareVoice AI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Voice + RAG for Senior &amp; Patient Care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657600" y="347472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CFB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Hackathon March 2026  •  Azure AI Governed RAG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CareVoice AI — Governed Voice + RAG for Healthcare</dc:title>
  <dc:subject>PptxGenJS Presentation</dc:subject>
  <dc:creator>CareVoice AI Team</dc:creator>
  <cp:lastModifiedBy>CareVoice AI Team</cp:lastModifiedBy>
  <cp:revision>1</cp:revision>
  <dcterms:created xsi:type="dcterms:W3CDTF">2026-03-24T18:07:36Z</dcterms:created>
  <dcterms:modified xsi:type="dcterms:W3CDTF">2026-03-24T18:07:36Z</dcterms:modified>
</cp:coreProperties>
</file>